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4E95D9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7" autoAdjust="0"/>
    <p:restoredTop sz="90211" autoAdjust="0"/>
  </p:normalViewPr>
  <p:slideViewPr>
    <p:cSldViewPr snapToGrid="0">
      <p:cViewPr>
        <p:scale>
          <a:sx n="119" d="100"/>
          <a:sy n="119" d="100"/>
        </p:scale>
        <p:origin x="18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CC99F-F83B-4D3F-BF8F-E427DEAA9C66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FE658-3E2D-4334-A0C4-1878E73E6B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90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FE658-3E2D-4334-A0C4-1878E73E6BF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77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03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8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721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73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6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0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2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8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56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05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711BE-1358-4B94-8459-A93E0B955E71}" type="datetimeFigureOut">
              <a:rPr lang="ko-KR" altLang="en-US" smtClean="0"/>
              <a:t>2026. 4. 17.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C63BD-72FF-49BB-95C6-25E4A7CB9B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7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6345AB-0611-4F09-1790-16DCB41FE355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293C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3D6809-92EB-0C6F-5AFB-666A958B2452}"/>
              </a:ext>
            </a:extLst>
          </p:cNvPr>
          <p:cNvSpPr/>
          <p:nvPr/>
        </p:nvSpPr>
        <p:spPr>
          <a:xfrm>
            <a:off x="326145" y="1002218"/>
            <a:ext cx="3003795" cy="5564283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D9B05-BB8F-14E9-592B-D953D171F8BB}"/>
              </a:ext>
            </a:extLst>
          </p:cNvPr>
          <p:cNvSpPr txBox="1"/>
          <p:nvPr/>
        </p:nvSpPr>
        <p:spPr>
          <a:xfrm>
            <a:off x="252639" y="193449"/>
            <a:ext cx="62057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시각장애인 안내 로봇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B0EFAC-E0A7-25E6-FBCD-2D61EF2AB219}"/>
              </a:ext>
            </a:extLst>
          </p:cNvPr>
          <p:cNvSpPr txBox="1"/>
          <p:nvPr/>
        </p:nvSpPr>
        <p:spPr>
          <a:xfrm>
            <a:off x="326145" y="1067163"/>
            <a:ext cx="379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시각장애인 안내 로봇</a:t>
            </a:r>
            <a:endParaRPr lang="en-US" altLang="ko-KR" sz="16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35FC2"/>
              </a:solidFill>
              <a:latin typeface="+mj-ea"/>
              <a:ea typeface="+mj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658C2C-7952-E3DA-770B-28116AF07060}"/>
              </a:ext>
            </a:extLst>
          </p:cNvPr>
          <p:cNvSpPr txBox="1"/>
          <p:nvPr/>
        </p:nvSpPr>
        <p:spPr>
          <a:xfrm>
            <a:off x="3621603" y="4877348"/>
            <a:ext cx="281671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지도상에서 실시간으로 로봇의 위치 추정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82F530A-68ED-5660-E97D-20A4065CC7EE}"/>
              </a:ext>
            </a:extLst>
          </p:cNvPr>
          <p:cNvSpPr/>
          <p:nvPr/>
        </p:nvSpPr>
        <p:spPr>
          <a:xfrm>
            <a:off x="326145" y="6714565"/>
            <a:ext cx="3003795" cy="2797437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9737D-8A80-C17E-9DF8-B82D263EA564}"/>
              </a:ext>
            </a:extLst>
          </p:cNvPr>
          <p:cNvSpPr txBox="1"/>
          <p:nvPr/>
        </p:nvSpPr>
        <p:spPr>
          <a:xfrm>
            <a:off x="305707" y="6797365"/>
            <a:ext cx="2727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손잡이 조작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2DA07E-AF82-0BD6-00FD-EDE0763173F1}"/>
              </a:ext>
            </a:extLst>
          </p:cNvPr>
          <p:cNvSpPr txBox="1"/>
          <p:nvPr/>
        </p:nvSpPr>
        <p:spPr>
          <a:xfrm>
            <a:off x="305707" y="7056736"/>
            <a:ext cx="2816712" cy="47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버튼으로 상태 전환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환경 분석</a:t>
            </a:r>
            <a:endParaRPr lang="en-US" altLang="ko-KR" sz="1100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defTabSz="914400">
              <a:lnSpc>
                <a:spcPct val="120000"/>
              </a:lnSpc>
            </a:pP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압력 센서로 위험 신호 감지</a:t>
            </a:r>
          </a:p>
        </p:txBody>
      </p:sp>
      <p:sp>
        <p:nvSpPr>
          <p:cNvPr id="5" name="사각형: 둥근 모서리 6">
            <a:extLst>
              <a:ext uri="{FF2B5EF4-FFF2-40B4-BE49-F238E27FC236}">
                <a16:creationId xmlns:a16="http://schemas.microsoft.com/office/drawing/2014/main" id="{C67FF30B-D626-AEDB-37CC-409A51F20822}"/>
              </a:ext>
            </a:extLst>
          </p:cNvPr>
          <p:cNvSpPr/>
          <p:nvPr/>
        </p:nvSpPr>
        <p:spPr>
          <a:xfrm>
            <a:off x="3507057" y="1012586"/>
            <a:ext cx="3003795" cy="2040752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C3AA73-EED8-B5FB-6038-A43938594DDF}"/>
              </a:ext>
            </a:extLst>
          </p:cNvPr>
          <p:cNvSpPr txBox="1"/>
          <p:nvPr/>
        </p:nvSpPr>
        <p:spPr>
          <a:xfrm>
            <a:off x="3499966" y="1102072"/>
            <a:ext cx="285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자율 주행 네비게이션</a:t>
            </a: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6B888264-9F0C-6828-5F1A-9810135B6BAA}"/>
              </a:ext>
            </a:extLst>
          </p:cNvPr>
          <p:cNvSpPr/>
          <p:nvPr/>
        </p:nvSpPr>
        <p:spPr>
          <a:xfrm>
            <a:off x="3528060" y="3165474"/>
            <a:ext cx="3003795" cy="2040752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6">
            <a:extLst>
              <a:ext uri="{FF2B5EF4-FFF2-40B4-BE49-F238E27FC236}">
                <a16:creationId xmlns:a16="http://schemas.microsoft.com/office/drawing/2014/main" id="{40CF8A20-529C-D618-79A4-9FB1E27B6F55}"/>
              </a:ext>
            </a:extLst>
          </p:cNvPr>
          <p:cNvSpPr/>
          <p:nvPr/>
        </p:nvSpPr>
        <p:spPr>
          <a:xfrm>
            <a:off x="3527087" y="5318362"/>
            <a:ext cx="3003795" cy="2040752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7236DC64-1EEC-AF9E-E05F-C5D99562C147}"/>
              </a:ext>
            </a:extLst>
          </p:cNvPr>
          <p:cNvSpPr/>
          <p:nvPr/>
        </p:nvSpPr>
        <p:spPr>
          <a:xfrm>
            <a:off x="3527087" y="7471250"/>
            <a:ext cx="3003795" cy="2040752"/>
          </a:xfrm>
          <a:prstGeom prst="roundRect">
            <a:avLst>
              <a:gd name="adj" fmla="val 46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 descr="사람, 의류, 청바지, 잡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C53C44-76E2-C644-DD62-826A88D65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6" y="2288037"/>
            <a:ext cx="2625934" cy="4280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092B03-0F3C-647B-B83A-28B7FE294F91}"/>
              </a:ext>
            </a:extLst>
          </p:cNvPr>
          <p:cNvSpPr txBox="1"/>
          <p:nvPr/>
        </p:nvSpPr>
        <p:spPr>
          <a:xfrm>
            <a:off x="3499966" y="3240174"/>
            <a:ext cx="285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장애물 회피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3B0556-A9A3-A973-8968-5843E1708CBB}"/>
              </a:ext>
            </a:extLst>
          </p:cNvPr>
          <p:cNvSpPr txBox="1"/>
          <p:nvPr/>
        </p:nvSpPr>
        <p:spPr>
          <a:xfrm>
            <a:off x="3499966" y="5390956"/>
            <a:ext cx="285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음성 인터페이스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4BC93C-E9FA-4B83-16F3-F529949276C1}"/>
              </a:ext>
            </a:extLst>
          </p:cNvPr>
          <p:cNvSpPr txBox="1"/>
          <p:nvPr/>
        </p:nvSpPr>
        <p:spPr>
          <a:xfrm>
            <a:off x="3499966" y="7539594"/>
            <a:ext cx="285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35FC2"/>
                </a:solidFill>
                <a:latin typeface="+mj-ea"/>
                <a:ea typeface="+mj-ea"/>
              </a:rPr>
              <a:t>실내 환경 분석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02C4C8-0416-0D16-54F7-8040CCF16AF9}"/>
              </a:ext>
            </a:extLst>
          </p:cNvPr>
          <p:cNvSpPr txBox="1"/>
          <p:nvPr/>
        </p:nvSpPr>
        <p:spPr>
          <a:xfrm>
            <a:off x="3499966" y="1363814"/>
            <a:ext cx="281671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로봇과 사용자가 함께 목적지까지 이동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A499C0-7D95-FB51-6783-2D0B6B03542A}"/>
              </a:ext>
            </a:extLst>
          </p:cNvPr>
          <p:cNvSpPr txBox="1"/>
          <p:nvPr/>
        </p:nvSpPr>
        <p:spPr>
          <a:xfrm>
            <a:off x="3499966" y="3498480"/>
            <a:ext cx="3094250" cy="27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LiDAR, Depth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카메라로 주변 장애물 감지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회피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6EAC0B-6C46-D545-C705-E30A47AF4561}"/>
              </a:ext>
            </a:extLst>
          </p:cNvPr>
          <p:cNvSpPr txBox="1"/>
          <p:nvPr/>
        </p:nvSpPr>
        <p:spPr>
          <a:xfrm>
            <a:off x="3499966" y="5663769"/>
            <a:ext cx="3094250" cy="47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LLM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기반 목적지 지시 및 상태 변경 명령을 음성으로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99666-EB1D-4CF7-1DCC-CA1651AE678B}"/>
              </a:ext>
            </a:extLst>
          </p:cNvPr>
          <p:cNvSpPr txBox="1"/>
          <p:nvPr/>
        </p:nvSpPr>
        <p:spPr>
          <a:xfrm>
            <a:off x="3499966" y="7804256"/>
            <a:ext cx="3094250" cy="27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전방 상황을 분석하여</a:t>
            </a:r>
            <a:r>
              <a:rPr lang="en-US" altLang="ko-KR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100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음성으로 안내</a:t>
            </a:r>
          </a:p>
        </p:txBody>
      </p:sp>
      <p:pic>
        <p:nvPicPr>
          <p:cNvPr id="28" name="그림 27" descr="사무용품, 플라스틱, 칫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F870C8-6F0F-0BCC-89B4-A07192ABE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54" y="7531635"/>
            <a:ext cx="677659" cy="1818023"/>
          </a:xfrm>
          <a:prstGeom prst="rect">
            <a:avLst/>
          </a:prstGeom>
        </p:spPr>
      </p:pic>
      <p:pic>
        <p:nvPicPr>
          <p:cNvPr id="30" name="그림 29" descr="스크린샷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96BB48-5386-E6E7-EDE3-18A885F6B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114" y="7218719"/>
            <a:ext cx="843130" cy="219984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C5F0CDA-736F-5B99-52E4-688870698942}"/>
              </a:ext>
            </a:extLst>
          </p:cNvPr>
          <p:cNvSpPr txBox="1"/>
          <p:nvPr/>
        </p:nvSpPr>
        <p:spPr>
          <a:xfrm>
            <a:off x="312089" y="1341413"/>
            <a:ext cx="3110245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2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시각장애인의 실내 안내를 위한</a:t>
            </a:r>
            <a:r>
              <a:rPr lang="en-US" altLang="ko-KR" sz="12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로봇 시스템</a:t>
            </a:r>
          </a:p>
        </p:txBody>
      </p:sp>
      <p:pic>
        <p:nvPicPr>
          <p:cNvPr id="33" name="그림 32" descr="의류, 사람, 청바지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DAC9C0-A080-D97E-B1A4-C4E7571BC4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1" t="12465" r="16322" b="13577"/>
          <a:stretch>
            <a:fillRect/>
          </a:stretch>
        </p:blipFill>
        <p:spPr>
          <a:xfrm>
            <a:off x="5385769" y="8146426"/>
            <a:ext cx="1044091" cy="1207408"/>
          </a:xfrm>
          <a:prstGeom prst="rect">
            <a:avLst/>
          </a:prstGeom>
        </p:spPr>
      </p:pic>
      <p:pic>
        <p:nvPicPr>
          <p:cNvPr id="38" name="그림 37" descr="스크린샷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836F28-F589-2337-9419-04C2501D7B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 b="19716"/>
          <a:stretch>
            <a:fillRect/>
          </a:stretch>
        </p:blipFill>
        <p:spPr>
          <a:xfrm>
            <a:off x="3621603" y="1627416"/>
            <a:ext cx="2421695" cy="1351968"/>
          </a:xfrm>
          <a:prstGeom prst="rect">
            <a:avLst/>
          </a:prstGeom>
        </p:spPr>
      </p:pic>
      <p:sp>
        <p:nvSpPr>
          <p:cNvPr id="39" name="굽은 화살표[B] 38">
            <a:extLst>
              <a:ext uri="{FF2B5EF4-FFF2-40B4-BE49-F238E27FC236}">
                <a16:creationId xmlns:a16="http://schemas.microsoft.com/office/drawing/2014/main" id="{40D55E8F-3F29-2D97-0369-0B45978F949E}"/>
              </a:ext>
            </a:extLst>
          </p:cNvPr>
          <p:cNvSpPr/>
          <p:nvPr/>
        </p:nvSpPr>
        <p:spPr>
          <a:xfrm>
            <a:off x="4974188" y="2210275"/>
            <a:ext cx="289605" cy="261611"/>
          </a:xfrm>
          <a:prstGeom prst="bentArrow">
            <a:avLst>
              <a:gd name="adj1" fmla="val 25000"/>
              <a:gd name="adj2" fmla="val 26575"/>
              <a:gd name="adj3" fmla="val 25000"/>
              <a:gd name="adj4" fmla="val 4375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CD869A-7822-5117-6874-1B620DF238DA}"/>
              </a:ext>
            </a:extLst>
          </p:cNvPr>
          <p:cNvSpPr txBox="1"/>
          <p:nvPr/>
        </p:nvSpPr>
        <p:spPr>
          <a:xfrm>
            <a:off x="5344635" y="2125573"/>
            <a:ext cx="932440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사용자 구역</a:t>
            </a:r>
          </a:p>
        </p:txBody>
      </p:sp>
      <p:pic>
        <p:nvPicPr>
          <p:cNvPr id="48" name="그림 47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3E769-915D-1DDF-9D60-7AC4E355EF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8" t="21315" r="26391" b="24036"/>
          <a:stretch>
            <a:fillRect/>
          </a:stretch>
        </p:blipFill>
        <p:spPr>
          <a:xfrm>
            <a:off x="3588803" y="3824922"/>
            <a:ext cx="1170492" cy="1249361"/>
          </a:xfrm>
          <a:prstGeom prst="rect">
            <a:avLst/>
          </a:prstGeom>
        </p:spPr>
      </p:pic>
      <p:pic>
        <p:nvPicPr>
          <p:cNvPr id="50" name="그림 49" descr="텍스트, 스케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D73BF5-6084-A93D-02E3-DA7622A38F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2" t="39568" r="14376" b="12132"/>
          <a:stretch>
            <a:fillRect/>
          </a:stretch>
        </p:blipFill>
        <p:spPr>
          <a:xfrm>
            <a:off x="5118990" y="3820356"/>
            <a:ext cx="1310870" cy="1253927"/>
          </a:xfrm>
          <a:prstGeom prst="rect">
            <a:avLst/>
          </a:prstGeom>
        </p:spPr>
      </p:pic>
      <p:sp>
        <p:nvSpPr>
          <p:cNvPr id="51" name="화살표: 오른쪽 91">
            <a:extLst>
              <a:ext uri="{FF2B5EF4-FFF2-40B4-BE49-F238E27FC236}">
                <a16:creationId xmlns:a16="http://schemas.microsoft.com/office/drawing/2014/main" id="{4382B0CE-712D-5608-5EF6-7C4936D69959}"/>
              </a:ext>
            </a:extLst>
          </p:cNvPr>
          <p:cNvSpPr/>
          <p:nvPr/>
        </p:nvSpPr>
        <p:spPr>
          <a:xfrm>
            <a:off x="4821765" y="4374100"/>
            <a:ext cx="251243" cy="320376"/>
          </a:xfrm>
          <a:prstGeom prst="rightArrow">
            <a:avLst>
              <a:gd name="adj1" fmla="val 34144"/>
              <a:gd name="adj2" fmla="val 46209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F7BDB2-A543-89FB-0EBE-5D16204E6483}"/>
              </a:ext>
            </a:extLst>
          </p:cNvPr>
          <p:cNvSpPr txBox="1"/>
          <p:nvPr/>
        </p:nvSpPr>
        <p:spPr>
          <a:xfrm>
            <a:off x="1133308" y="9058646"/>
            <a:ext cx="1264582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당길 시 긴급정지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A67DEB-1B03-0B85-40E8-99184A0FB5E0}"/>
              </a:ext>
            </a:extLst>
          </p:cNvPr>
          <p:cNvCxnSpPr>
            <a:cxnSpLocks/>
          </p:cNvCxnSpPr>
          <p:nvPr/>
        </p:nvCxnSpPr>
        <p:spPr>
          <a:xfrm>
            <a:off x="776640" y="8440646"/>
            <a:ext cx="575712" cy="580359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4023CBC-969E-473A-53F5-987E10470613}"/>
              </a:ext>
            </a:extLst>
          </p:cNvPr>
          <p:cNvSpPr txBox="1"/>
          <p:nvPr/>
        </p:nvSpPr>
        <p:spPr>
          <a:xfrm>
            <a:off x="1047698" y="7585473"/>
            <a:ext cx="1168082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실내 환경 분석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02A12A-FE18-730F-8D59-96DDAB8F1E64}"/>
              </a:ext>
            </a:extLst>
          </p:cNvPr>
          <p:cNvSpPr txBox="1"/>
          <p:nvPr/>
        </p:nvSpPr>
        <p:spPr>
          <a:xfrm>
            <a:off x="1061931" y="8153265"/>
            <a:ext cx="1264582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목적지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+mj-ea"/>
                <a:ea typeface="+mj-ea"/>
              </a:rPr>
              <a:t>명령 확정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B1B0415F-3C7D-5798-673D-397BEF8E3803}"/>
              </a:ext>
            </a:extLst>
          </p:cNvPr>
          <p:cNvCxnSpPr>
            <a:cxnSpLocks/>
          </p:cNvCxnSpPr>
          <p:nvPr/>
        </p:nvCxnSpPr>
        <p:spPr>
          <a:xfrm flipH="1" flipV="1">
            <a:off x="2106231" y="7734708"/>
            <a:ext cx="412098" cy="5427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E765CBD-6114-8692-B730-EEB1B86F3B61}"/>
              </a:ext>
            </a:extLst>
          </p:cNvPr>
          <p:cNvCxnSpPr>
            <a:cxnSpLocks/>
            <a:endCxn id="72" idx="3"/>
          </p:cNvCxnSpPr>
          <p:nvPr/>
        </p:nvCxnSpPr>
        <p:spPr>
          <a:xfrm flipH="1">
            <a:off x="2326513" y="7873576"/>
            <a:ext cx="492101" cy="410494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순차적 액세스 저장소 81">
            <a:extLst>
              <a:ext uri="{FF2B5EF4-FFF2-40B4-BE49-F238E27FC236}">
                <a16:creationId xmlns:a16="http://schemas.microsoft.com/office/drawing/2014/main" id="{2CD54DA0-3E85-D917-01D8-225C10B1D90B}"/>
              </a:ext>
            </a:extLst>
          </p:cNvPr>
          <p:cNvSpPr/>
          <p:nvPr/>
        </p:nvSpPr>
        <p:spPr>
          <a:xfrm flipH="1">
            <a:off x="3543727" y="6284359"/>
            <a:ext cx="1898765" cy="868161"/>
          </a:xfrm>
          <a:prstGeom prst="flowChartMagneticTap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순차적 액세스 저장소 82">
            <a:extLst>
              <a:ext uri="{FF2B5EF4-FFF2-40B4-BE49-F238E27FC236}">
                <a16:creationId xmlns:a16="http://schemas.microsoft.com/office/drawing/2014/main" id="{D046BC62-61CB-622A-F0AE-689B5ED35268}"/>
              </a:ext>
            </a:extLst>
          </p:cNvPr>
          <p:cNvSpPr/>
          <p:nvPr/>
        </p:nvSpPr>
        <p:spPr>
          <a:xfrm>
            <a:off x="4802427" y="5972210"/>
            <a:ext cx="1708062" cy="442449"/>
          </a:xfrm>
          <a:prstGeom prst="flowChartMagneticTap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FBACD8-A3CB-66A5-BC0E-B9DC8F53202C}"/>
              </a:ext>
            </a:extLst>
          </p:cNvPr>
          <p:cNvSpPr txBox="1"/>
          <p:nvPr/>
        </p:nvSpPr>
        <p:spPr>
          <a:xfrm>
            <a:off x="5086497" y="6057537"/>
            <a:ext cx="118780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연구실로 가줘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D916F0-CCE9-433C-306F-C1107C286C4A}"/>
              </a:ext>
            </a:extLst>
          </p:cNvPr>
          <p:cNvSpPr txBox="1"/>
          <p:nvPr/>
        </p:nvSpPr>
        <p:spPr>
          <a:xfrm>
            <a:off x="3635798" y="6462484"/>
            <a:ext cx="1898765" cy="478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연구실로 갈까요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?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맞으면 버튼을 눌러주세요</a:t>
            </a:r>
          </a:p>
        </p:txBody>
      </p:sp>
      <p:sp>
        <p:nvSpPr>
          <p:cNvPr id="90" name="순차적 액세스 저장소 89">
            <a:extLst>
              <a:ext uri="{FF2B5EF4-FFF2-40B4-BE49-F238E27FC236}">
                <a16:creationId xmlns:a16="http://schemas.microsoft.com/office/drawing/2014/main" id="{14625E1B-CB8D-0FC5-7482-73BE6A65F5A7}"/>
              </a:ext>
            </a:extLst>
          </p:cNvPr>
          <p:cNvSpPr/>
          <p:nvPr/>
        </p:nvSpPr>
        <p:spPr>
          <a:xfrm flipH="1">
            <a:off x="3534629" y="8232792"/>
            <a:ext cx="1787805" cy="1121042"/>
          </a:xfrm>
          <a:prstGeom prst="flowChartMagneticTap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E9FEE8-A656-644A-4CF4-4C83798D447A}"/>
              </a:ext>
            </a:extLst>
          </p:cNvPr>
          <p:cNvSpPr txBox="1"/>
          <p:nvPr/>
        </p:nvSpPr>
        <p:spPr>
          <a:xfrm>
            <a:off x="3794189" y="8397757"/>
            <a:ext cx="1394433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복도는 길고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 </a:t>
            </a:r>
            <a:endParaRPr lang="en-US" altLang="ko-KR" sz="11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한쪽에는 사람이 </a:t>
            </a:r>
            <a:endParaRPr lang="en-US" altLang="ko-KR" sz="11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스마트폰을 보고 </a:t>
            </a:r>
            <a:endParaRPr lang="en-US" altLang="ko-KR" sz="11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  <a:p>
            <a:pPr defTabSz="914400">
              <a:lnSpc>
                <a:spcPct val="120000"/>
              </a:lnSpc>
            </a:pPr>
            <a:r>
              <a:rPr lang="ko-KR" altLang="en-US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있습니다</a:t>
            </a:r>
            <a:r>
              <a:rPr lang="en-US" altLang="ko-KR" sz="1100" b="1" spc="-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.</a:t>
            </a:r>
            <a:endParaRPr lang="ko-KR" altLang="en-US" sz="1100" b="1" spc="-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F764E-A0A8-EBDC-C7B5-46F605B6ED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3821" y="6110175"/>
            <a:ext cx="303383" cy="3033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828FBF-F96E-4998-D933-8688572F4E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5711" y="5777406"/>
            <a:ext cx="275460" cy="2754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E2FE58B-2E67-2BC7-B1C3-45C1C089A4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661" y="8096455"/>
            <a:ext cx="303383" cy="30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8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678</TotalTime>
  <Words>100</Words>
  <Application>Microsoft Macintosh PowerPoint</Application>
  <PresentationFormat>A4 용지(210x297mm)</PresentationFormat>
  <Paragraphs>28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나눔스퀘어OTF</vt:lpstr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조성환</dc:creator>
  <cp:lastModifiedBy>이종하</cp:lastModifiedBy>
  <cp:revision>77</cp:revision>
  <dcterms:created xsi:type="dcterms:W3CDTF">2025-04-21T05:14:06Z</dcterms:created>
  <dcterms:modified xsi:type="dcterms:W3CDTF">2026-04-17T01:12:29Z</dcterms:modified>
</cp:coreProperties>
</file>